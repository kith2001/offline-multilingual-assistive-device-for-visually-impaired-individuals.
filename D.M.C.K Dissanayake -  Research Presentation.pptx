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60" r:id="rId2"/>
    <p:sldId id="261" r:id="rId3"/>
    <p:sldId id="273" r:id="rId4"/>
    <p:sldId id="275" r:id="rId5"/>
    <p:sldId id="271" r:id="rId6"/>
    <p:sldId id="288" r:id="rId7"/>
    <p:sldId id="276" r:id="rId8"/>
    <p:sldId id="277" r:id="rId9"/>
    <p:sldId id="279" r:id="rId10"/>
    <p:sldId id="280" r:id="rId11"/>
    <p:sldId id="281" r:id="rId12"/>
    <p:sldId id="285" r:id="rId13"/>
    <p:sldId id="283" r:id="rId14"/>
    <p:sldId id="298" r:id="rId15"/>
    <p:sldId id="284" r:id="rId16"/>
    <p:sldId id="286" r:id="rId17"/>
    <p:sldId id="297" r:id="rId18"/>
    <p:sldId id="287" r:id="rId19"/>
    <p:sldId id="290" r:id="rId20"/>
    <p:sldId id="291" r:id="rId21"/>
    <p:sldId id="299" r:id="rId22"/>
    <p:sldId id="292" r:id="rId23"/>
    <p:sldId id="289" r:id="rId24"/>
    <p:sldId id="293" r:id="rId25"/>
    <p:sldId id="295" r:id="rId26"/>
    <p:sldId id="296" r:id="rId27"/>
    <p:sldId id="272" r:id="rId28"/>
    <p:sldId id="30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43" autoAdjust="0"/>
  </p:normalViewPr>
  <p:slideViewPr>
    <p:cSldViewPr snapToGrid="0">
      <p:cViewPr varScale="1">
        <p:scale>
          <a:sx n="72" d="100"/>
          <a:sy n="72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22665-957C-4858-8D29-4667E1243A76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F83A5-88E9-4690-ADC3-BC9C0972B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38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F83A5-88E9-4690-ADC3-BC9C0972BFD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21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3.44% of world population (Stevens, Thomas &amp; Liew, 2018)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F83A5-88E9-4690-ADC3-BC9C0972BF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23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Ray ban 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F83A5-88E9-4690-ADC3-BC9C0972BF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16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'A Next-Gen Automated Reading Companion for the Visually Impaired’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'Assistive glasses for blind people’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F83A5-88E9-4690-ADC3-BC9C0972BF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77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'An Intelligent Text Reader based on Python’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'Low-resource end-to-end Sanskrit TTS using Tacotron2,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WaveGlow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transfer learning’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F83A5-88E9-4690-ADC3-BC9C0972BF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46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Flow-based neural vocoder used to generate audio from </a:t>
            </a:r>
            <a:r>
              <a:rPr lang="en-US" b="1" dirty="0" err="1"/>
              <a:t>mel</a:t>
            </a:r>
            <a:r>
              <a:rPr lang="en-US" b="1" dirty="0"/>
              <a:t> spectrograms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F83A5-88E9-4690-ADC3-BC9C0972BF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82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Times New Roman" panose="02020603050405020304" pitchFamily="18" charset="0"/>
                <a:ea typeface="Cordia New" panose="020B0304020202020204" pitchFamily="34" charset="-34"/>
                <a:cs typeface="Cordia New" panose="020B0304020202020204" pitchFamily="34" charset="-34"/>
              </a:rPr>
              <a:t>Open Speech and Language Resources, 2017)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F83A5-88E9-4690-ADC3-BC9C0972BF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99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F83A5-88E9-4690-ADC3-BC9C0972BFD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15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F83A5-88E9-4690-ADC3-BC9C0972BFD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33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958679"/>
            <a:ext cx="9144000" cy="92950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Add project title in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039C-71F1-466A-A50F-85D1E27EA7FC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D5C7B1BB-162C-4FD5-828D-785575C5BE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555258"/>
            <a:ext cx="3754546" cy="2258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95D70F1-1009-4492-BA0B-53B334999B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0" y="5573367"/>
            <a:ext cx="9144000" cy="278793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CF8DCFC-BA3D-4E52-BAA3-8D1B69A78D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5825461"/>
            <a:ext cx="9144000" cy="27879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Add the assessment title (ex: Proposal report and Presentation)</a:t>
            </a:r>
          </a:p>
        </p:txBody>
      </p:sp>
    </p:spTree>
    <p:extLst>
      <p:ext uri="{BB962C8B-B14F-4D97-AF65-F5344CB8AC3E}">
        <p14:creationId xmlns:p14="http://schemas.microsoft.com/office/powerpoint/2010/main" val="2943929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9E342-C872-4BD8-9B85-54AC64BA28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222064" cy="665815"/>
          </a:xfrm>
        </p:spPr>
        <p:txBody>
          <a:bodyPr/>
          <a:lstStyle/>
          <a:p>
            <a:r>
              <a:rPr lang="en-US" dirty="0"/>
              <a:t>Contents of the Presentation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9416A0-A909-4DD5-B48D-8DA4F72C5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809C-8A9D-4526-9470-43BA372DB6BA}" type="datetime1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352B7F-7592-4BE9-B4A3-543DA28AF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E13F1-9525-43EE-8AE7-F5319EAF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D7D93A-31E5-4610-A79B-99F5FAF8A6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319213"/>
            <a:ext cx="5753431" cy="4723778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800"/>
            </a:lvl1pPr>
            <a:lvl2pPr marL="800100" indent="-342900">
              <a:buFont typeface="+mj-lt"/>
              <a:buAutoNum type="arabicPeriod"/>
              <a:defRPr sz="2400"/>
            </a:lvl2pPr>
            <a:lvl3pPr marL="1257300" indent="-342900">
              <a:buFont typeface="+mj-lt"/>
              <a:buAutoNum type="arabicPeriod"/>
              <a:defRPr sz="2000"/>
            </a:lvl3pPr>
            <a:lvl4pPr marL="1714500" indent="-342900">
              <a:buFont typeface="+mj-lt"/>
              <a:buAutoNum type="arabicPeriod"/>
              <a:defRPr sz="1800"/>
            </a:lvl4pPr>
            <a:lvl5pPr>
              <a:buFont typeface="+mj-lt"/>
              <a:buAutoNum type="arabicPeriod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6FC8146E-7527-4DDB-9627-1B5B70E9F6B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23" r="34359" b="38835"/>
          <a:stretch/>
        </p:blipFill>
        <p:spPr bwMode="auto">
          <a:xfrm>
            <a:off x="11353800" y="43171"/>
            <a:ext cx="838200" cy="987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3D1FE7-A1D4-4E94-AB7C-FD00AD6F6644}"/>
              </a:ext>
            </a:extLst>
          </p:cNvPr>
          <p:cNvCxnSpPr/>
          <p:nvPr userDrawn="1"/>
        </p:nvCxnSpPr>
        <p:spPr>
          <a:xfrm>
            <a:off x="838200" y="1102659"/>
            <a:ext cx="10690412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65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268413"/>
            <a:ext cx="7885177" cy="4932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C835-01B5-43FD-A004-7A2A1C795B38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7C2B0C32-D9A6-4302-ACA4-3C23ADBA0B0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23" r="34359" b="38835"/>
          <a:stretch/>
        </p:blipFill>
        <p:spPr bwMode="auto">
          <a:xfrm>
            <a:off x="11353800" y="43171"/>
            <a:ext cx="838200" cy="987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B9E616-6AF9-49E8-8601-ACF8D4FD09F0}"/>
              </a:ext>
            </a:extLst>
          </p:cNvPr>
          <p:cNvCxnSpPr/>
          <p:nvPr userDrawn="1"/>
        </p:nvCxnSpPr>
        <p:spPr>
          <a:xfrm>
            <a:off x="838200" y="1102659"/>
            <a:ext cx="10690412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078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29" userDrawn="1">
          <p15:clr>
            <a:srgbClr val="FBAE40"/>
          </p15:clr>
        </p15:guide>
        <p15:guide id="3" pos="7151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  <p15:guide id="5" orient="horz" pos="390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233CB-9633-4569-901A-5D0FBA675D5C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45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68413"/>
            <a:ext cx="5181600" cy="4908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68413"/>
            <a:ext cx="5181600" cy="4908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F745-AFD6-4242-9F3F-5810DC69B192}" type="datetime1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4F70566-9600-4733-BA5B-BB55D854B16A}"/>
              </a:ext>
            </a:extLst>
          </p:cNvPr>
          <p:cNvCxnSpPr/>
          <p:nvPr userDrawn="1"/>
        </p:nvCxnSpPr>
        <p:spPr>
          <a:xfrm>
            <a:off x="838200" y="1102659"/>
            <a:ext cx="10690412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51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6873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8536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221992"/>
            <a:ext cx="5157787" cy="39676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7111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21992"/>
            <a:ext cx="5183188" cy="39676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DF18C-21FD-4F0B-ABCA-BA1846F733FE}" type="datetime1">
              <a:rPr lang="en-US" smtClean="0"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6982EE-ECEC-4CCC-9B76-3C4546FF1D2F}"/>
              </a:ext>
            </a:extLst>
          </p:cNvPr>
          <p:cNvCxnSpPr/>
          <p:nvPr userDrawn="1"/>
        </p:nvCxnSpPr>
        <p:spPr>
          <a:xfrm>
            <a:off x="838200" y="1102659"/>
            <a:ext cx="10690412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38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e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6838B-32F1-47B3-8724-0F15C7A8EA05}" type="datetime1">
              <a:rPr lang="en-US" smtClean="0"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F65866-F08A-4802-BC1C-3F4B9D9191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941638"/>
            <a:ext cx="10206038" cy="573087"/>
          </a:xfrm>
        </p:spPr>
        <p:txBody>
          <a:bodyPr>
            <a:noAutofit/>
          </a:bodyPr>
          <a:lstStyle>
            <a:lvl1pPr marL="457200" indent="-457200">
              <a:buFont typeface="+mj-lt"/>
              <a:buAutoNum type="arabicParenR"/>
              <a:defRPr sz="3200"/>
            </a:lvl1pPr>
            <a:lvl2pPr marL="800100" indent="-342900">
              <a:buFont typeface="+mj-lt"/>
              <a:buAutoNum type="arabicParenR"/>
              <a:defRPr sz="2800"/>
            </a:lvl2pPr>
            <a:lvl3pPr marL="1257300" indent="-342900">
              <a:buFont typeface="+mj-lt"/>
              <a:buAutoNum type="arabicParenR"/>
              <a:defRPr sz="2400"/>
            </a:lvl3pPr>
            <a:lvl4pPr marL="1714500" indent="-342900">
              <a:buFont typeface="+mj-lt"/>
              <a:buAutoNum type="arabicParenR"/>
              <a:defRPr sz="2000"/>
            </a:lvl4pPr>
            <a:lvl5pPr marL="2057400" indent="-228600">
              <a:buFont typeface="+mj-lt"/>
              <a:buAutoNum type="arabicParenR"/>
              <a:defRPr sz="1800"/>
            </a:lvl5pPr>
          </a:lstStyle>
          <a:p>
            <a:pPr lvl="0"/>
            <a:r>
              <a:rPr lang="en-US" dirty="0"/>
              <a:t>Section separator page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511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6E8B6-5267-40E6-8386-CC8A4AF5AD68}" type="datetime1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7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4C38-E561-4FC8-8444-B7CF66EDF694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AB49F3-A295-4EDF-AB75-7F55409F1135}"/>
              </a:ext>
            </a:extLst>
          </p:cNvPr>
          <p:cNvCxnSpPr/>
          <p:nvPr userDrawn="1"/>
        </p:nvCxnSpPr>
        <p:spPr>
          <a:xfrm>
            <a:off x="838200" y="1102659"/>
            <a:ext cx="10690412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234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DADE7-F5F2-41A1-B4D4-48544D0B05D6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27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04801"/>
            <a:ext cx="10058400" cy="14319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2400" y="1981200"/>
            <a:ext cx="49276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3200" y="1981200"/>
            <a:ext cx="49276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22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B10F23EB-852A-4B00-B663-F947275921D9}" type="datetime1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Final year projects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4126FC69-4880-40B1-8453-B3C87796CA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80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5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268413"/>
            <a:ext cx="10548936" cy="493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ABF83-C4BC-4746-A5FD-82D989613413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Final year projects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81B92-E19E-40E2-9E57-C362BEC99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1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7" r:id="rId8"/>
    <p:sldLayoutId id="2147483658" r:id="rId9"/>
    <p:sldLayoutId id="2147483659" r:id="rId10"/>
    <p:sldLayoutId id="214748366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06" userDrawn="1">
          <p15:clr>
            <a:srgbClr val="F26B43"/>
          </p15:clr>
        </p15:guide>
        <p15:guide id="4" pos="529" userDrawn="1">
          <p15:clr>
            <a:srgbClr val="F26B43"/>
          </p15:clr>
        </p15:guide>
        <p15:guide id="5" pos="71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slr.org/30/" TargetMode="External"/><Relationship Id="rId2" Type="http://schemas.openxmlformats.org/officeDocument/2006/relationships/hyperlink" Target="https://www.who.int/news/item/09-10-2003-up-to-45-million-blind-people-globally---and-growing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mc.ncbi.nlm.nih.gov/articles/PMC5820628/" TargetMode="External"/><Relationship Id="rId4" Type="http://schemas.openxmlformats.org/officeDocument/2006/relationships/hyperlink" Target="https://keithito.com/LJ-Speech-Dataset/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34EEF-3FB9-46C1-B870-5D9777DEC7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Offline Multilingual Assistive Device for Visually Impaired Individuals.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4DEFF-6FC5-4D2E-8094-366117893E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Department of Mechanical Engineering, Final year Projects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3F487-A6CF-4790-BF0F-4E11D9506D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4000" y="5852160"/>
            <a:ext cx="9144000" cy="278793"/>
          </a:xfrm>
        </p:spPr>
        <p:txBody>
          <a:bodyPr/>
          <a:lstStyle/>
          <a:p>
            <a:r>
              <a:rPr lang="en-US" dirty="0"/>
              <a:t>Final Evaluation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0997DD-63F3-45B0-A029-9A6E49030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102937"/>
              </p:ext>
            </p:extLst>
          </p:nvPr>
        </p:nvGraphicFramePr>
        <p:xfrm>
          <a:off x="2135554" y="4327947"/>
          <a:ext cx="7942157" cy="11043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9577">
                  <a:extLst>
                    <a:ext uri="{9D8B030D-6E8A-4147-A177-3AD203B41FA5}">
                      <a16:colId xmlns:a16="http://schemas.microsoft.com/office/drawing/2014/main" val="1343378155"/>
                    </a:ext>
                  </a:extLst>
                </a:gridCol>
                <a:gridCol w="3177318">
                  <a:extLst>
                    <a:ext uri="{9D8B030D-6E8A-4147-A177-3AD203B41FA5}">
                      <a16:colId xmlns:a16="http://schemas.microsoft.com/office/drawing/2014/main" val="2754898867"/>
                    </a:ext>
                  </a:extLst>
                </a:gridCol>
                <a:gridCol w="228334">
                  <a:extLst>
                    <a:ext uri="{9D8B030D-6E8A-4147-A177-3AD203B41FA5}">
                      <a16:colId xmlns:a16="http://schemas.microsoft.com/office/drawing/2014/main" val="2497739807"/>
                    </a:ext>
                  </a:extLst>
                </a:gridCol>
                <a:gridCol w="3206928">
                  <a:extLst>
                    <a:ext uri="{9D8B030D-6E8A-4147-A177-3AD203B41FA5}">
                      <a16:colId xmlns:a16="http://schemas.microsoft.com/office/drawing/2014/main" val="285610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Project Group No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Student Names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0441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Project Name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An Offline, Multilingual Assistive Device for Visually Impaired Individuals.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D.M.C.K Dissanayake 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2331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Supervisor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 Prof.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effectLst/>
                        </a:rPr>
                        <a:t>Migara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 Liyanage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815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Co-Supervisors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 -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06417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FE68AEB-8F30-498C-83E1-398C2D26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4588-F006-43D7-8A16-825BACDBB4B4}" type="datetime1">
              <a:rPr lang="en-US" smtClean="0"/>
              <a:t>12/9/2024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DEC195-42AE-4F34-9A6B-3256D388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year projects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76D3DD-060B-4D0D-854A-4A05536D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28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0D039-9CF5-4010-9005-E0D997C9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05916-1A9F-41AA-9642-6437DCA141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Aim and Objectives</a:t>
            </a:r>
          </a:p>
          <a:p>
            <a:r>
              <a:rPr lang="en-US" dirty="0"/>
              <a:t>Literature Review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Results and Discussion</a:t>
            </a:r>
          </a:p>
          <a:p>
            <a:r>
              <a:rPr lang="en-US" dirty="0"/>
              <a:t>Future Work and Conclusions</a:t>
            </a:r>
          </a:p>
          <a:p>
            <a:r>
              <a:rPr lang="en-US" dirty="0"/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B2BE5-061C-4677-B69D-8211512AF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292F-FCFD-41A3-8415-B39E0F60ECC4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27D27-F955-4BA1-B17B-9EC32373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8A9C5-37DE-4D07-B050-5EA2EFF2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93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D46CC-11A1-79CE-AE20-BC96ABA5D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 Free Screen Readers For Blind Or ...">
            <a:extLst>
              <a:ext uri="{FF2B5EF4-FFF2-40B4-BE49-F238E27FC236}">
                <a16:creationId xmlns:a16="http://schemas.microsoft.com/office/drawing/2014/main" id="{E5A4135A-3161-9FC1-8205-98AECE9EE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566" y="1898490"/>
            <a:ext cx="5009606" cy="28053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E44B35-77C0-8788-63B0-61A21AC34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164B3-FFE3-4D48-9DF4-BA76D4D5B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6019385" cy="5224461"/>
          </a:xfrm>
        </p:spPr>
        <p:txBody>
          <a:bodyPr>
            <a:normAutofit/>
          </a:bodyPr>
          <a:lstStyle/>
          <a:p>
            <a:pPr marR="0"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Over </a:t>
            </a:r>
            <a:r>
              <a:rPr lang="en-US" sz="1800" b="1" dirty="0">
                <a:latin typeface="Times New Roman" panose="02020603050405020304" pitchFamily="18" charset="0"/>
                <a:ea typeface="Arial MT"/>
                <a:cs typeface="Arial MT"/>
              </a:rPr>
              <a:t>253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million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people globally live with vision impairment, including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40–45 million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who are completely blind.</a:t>
            </a:r>
          </a:p>
          <a:p>
            <a:pPr marR="0"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Visual impairment limits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education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employment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, and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quality of life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.</a:t>
            </a:r>
          </a:p>
          <a:p>
            <a:pPr marL="0" marR="0" indent="0">
              <a:buNone/>
            </a:pPr>
            <a:endParaRPr lang="en-US" sz="1800" dirty="0"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/>
            <a:r>
              <a:rPr lang="en-US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Historical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Innovations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Braille System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(19th century) by Louis Braille: a tactile writing system still widely used today.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en-US" sz="1800" b="1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White Cane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(1921) by James Biggs: a mobility aid for the visually impaired.</a:t>
            </a:r>
            <a:endParaRPr lang="en-US" sz="1800" dirty="0"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0" marR="0" indent="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C1992-5D1A-E439-E37F-04B71037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0C1D-8212-48F3-BAA3-3CAE378B50BB}" type="datetime1">
              <a:rPr lang="en-US" smtClean="0"/>
              <a:t>12/9/2024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B4774-CCD6-BEB4-96B8-2AD80C07C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F64D9-A374-B686-7FFE-7582DEBA7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4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AF9C8-BBE7-68DE-CD82-46C7B6947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DBE3-F910-FD7C-0D0D-CE4764DE3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72896-F0A2-295C-F45B-8DE7AFB0D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10289584" cy="4932361"/>
          </a:xfrm>
        </p:spPr>
        <p:txBody>
          <a:bodyPr/>
          <a:lstStyle/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Limitations of Current Assistive Technologies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endParaRPr lang="en-US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lvl="1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Dependency on External Technologies</a:t>
            </a:r>
            <a:r>
              <a:rPr lang="en-US" sz="20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: </a:t>
            </a:r>
          </a:p>
          <a:p>
            <a:pPr lvl="2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Smartphones, visual interfaces and internet connectivity reduce accessibility in underserved areas.</a:t>
            </a:r>
            <a:endParaRPr lang="en-US" sz="2000" dirty="0"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marL="457200" lvl="1" indent="0">
              <a:buSzPts val="1000"/>
              <a:buNone/>
              <a:tabLst>
                <a:tab pos="914400" algn="l"/>
              </a:tabLst>
            </a:pPr>
            <a:endParaRPr lang="en-US" sz="2000" dirty="0">
              <a:effectLst/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lvl="1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Limited Language Support</a:t>
            </a:r>
            <a:r>
              <a:rPr lang="en-US" sz="20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: </a:t>
            </a:r>
          </a:p>
          <a:p>
            <a:pPr lvl="2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Most tools are optimized for English.</a:t>
            </a:r>
          </a:p>
          <a:p>
            <a:pPr marL="457200" lvl="1" indent="0">
              <a:buSzPts val="1000"/>
              <a:buNone/>
              <a:tabLst>
                <a:tab pos="914400" algn="l"/>
              </a:tabLst>
            </a:pPr>
            <a:endParaRPr lang="en-US" sz="2000" dirty="0">
              <a:effectLst/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lvl="1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Cost Barriers</a:t>
            </a:r>
            <a:r>
              <a:rPr lang="en-US" sz="20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: </a:t>
            </a:r>
          </a:p>
          <a:p>
            <a:pPr lvl="2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Subscription-based and cloud-driven services are often unaffordable. </a:t>
            </a:r>
          </a:p>
          <a:p>
            <a:pPr lvl="1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sz="2000" dirty="0">
              <a:effectLst/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B486C-6DEB-4B55-724B-98C94D47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E4E19-2662-430D-A850-EDB4C947B0ED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73B51-BA27-8035-A8DA-4F8C2685B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DEBAA-39B3-EEF7-3A54-852970AF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8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D550F-64E5-54E0-BD4C-2704F55EB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85C3-7BDF-63CA-8745-CB27C764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Aim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C990B-6CAE-6D28-11B8-D4CF9B835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10289584" cy="4932361"/>
          </a:xfrm>
        </p:spPr>
        <p:txBody>
          <a:bodyPr>
            <a:normAutofit/>
          </a:bodyPr>
          <a:lstStyle/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Aim: 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Arial MT"/>
                <a:cs typeface="Arial MT"/>
              </a:rPr>
              <a:t>	</a:t>
            </a:r>
            <a:r>
              <a:rPr lang="en-US" sz="19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Develop an 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offline, portable assistive device</a:t>
            </a:r>
            <a:r>
              <a:rPr lang="en-US" sz="19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supporting multilingual text-to-speech in 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Sinhala</a:t>
            </a:r>
            <a:r>
              <a:rPr lang="en-US" sz="19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	and 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English</a:t>
            </a:r>
            <a:r>
              <a:rPr lang="en-US" sz="19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.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endParaRPr lang="en-US" sz="19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Objectives</a:t>
            </a:r>
            <a:r>
              <a:rPr lang="en-US" sz="24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endParaRPr lang="en-US" sz="24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 lvl="1">
              <a:lnSpc>
                <a:spcPct val="10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Develop a methodology </a:t>
            </a:r>
            <a:r>
              <a:rPr lang="en-US" sz="1900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to implement a </a:t>
            </a:r>
            <a:r>
              <a:rPr lang="en-US" sz="19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device with Sinhala and English support for Visually impaired individuals. </a:t>
            </a:r>
          </a:p>
          <a:p>
            <a:pPr marR="0" lvl="1">
              <a:lnSpc>
                <a:spcPct val="10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900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Exploring methods to implement image to text conversion and speech synthesis, minimizing the dependency on external technologies.</a:t>
            </a:r>
          </a:p>
          <a:p>
            <a:pPr marR="0" lvl="1">
              <a:lnSpc>
                <a:spcPct val="10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suitability of the selected text recognition tool for an assistive device.</a:t>
            </a:r>
          </a:p>
          <a:p>
            <a:pPr marR="0" lvl="1">
              <a:lnSpc>
                <a:spcPct val="10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Examine th</a:t>
            </a:r>
            <a:r>
              <a:rPr lang="en-US" sz="1900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e capability of</a:t>
            </a:r>
            <a:r>
              <a:rPr lang="en-US" sz="19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neural models for speech synthesis </a:t>
            </a:r>
            <a:r>
              <a:rPr lang="en-US" sz="1900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in Sinhala and English.</a:t>
            </a:r>
          </a:p>
          <a:p>
            <a:pPr marR="0" lvl="1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sz="3500" dirty="0"/>
          </a:p>
          <a:p>
            <a:pPr marL="0" marR="0" indent="0">
              <a:buNone/>
            </a:pPr>
            <a:endParaRPr lang="en-US" sz="39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C9370-219E-6288-9C68-9491090FB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E4E19-2662-430D-A850-EDB4C947B0ED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E8EAF-9600-832D-1E5D-49C85649B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E2444-89AF-23FC-576C-0B05AA244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04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EFC2B-304F-7CFE-450B-AFCFC8A9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8A3C-9829-772D-EAA2-6ACC542D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Aim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55971-8564-8D6A-9DDB-4A78C1F9B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10289584" cy="4932361"/>
          </a:xfrm>
        </p:spPr>
        <p:txBody>
          <a:bodyPr>
            <a:normAutofit/>
          </a:bodyPr>
          <a:lstStyle/>
          <a:p>
            <a:pPr marL="0" marR="0" indent="0">
              <a:lnSpc>
                <a:spcPct val="150000"/>
              </a:lnSpc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Significance of the Research.</a:t>
            </a:r>
            <a:endParaRPr lang="en-US" b="1" dirty="0">
              <a:effectLst/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Provides a solution for 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Sinhala-speaking visually impaired individuals. </a:t>
            </a:r>
            <a:endParaRPr lang="en-US" sz="1900" dirty="0">
              <a:effectLst/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Enhances 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independence</a:t>
            </a:r>
            <a:r>
              <a:rPr lang="en-US" sz="19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in education and professional settings. </a:t>
            </a: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900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Overcomes the limitations faced by existing solutions by developing an offline method.</a:t>
            </a:r>
            <a:endParaRPr lang="en-US" sz="1900" dirty="0">
              <a:effectLst/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marL="457200" marR="0" lvl="1" indent="0">
              <a:buSzPts val="1000"/>
              <a:buNone/>
              <a:tabLst>
                <a:tab pos="914400" algn="l"/>
              </a:tabLst>
            </a:pPr>
            <a:endParaRPr lang="en-US" sz="1900" dirty="0"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1900" dirty="0">
              <a:effectLst/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9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Potential Applications:</a:t>
            </a:r>
            <a:endParaRPr lang="en-US" sz="19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900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Education</a:t>
            </a:r>
            <a:r>
              <a:rPr lang="en-US" sz="19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: Converts textbooks into speech, aiding blind students in learning independently.</a:t>
            </a: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900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Workplaces</a:t>
            </a:r>
            <a:r>
              <a:rPr lang="en-US" sz="19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: Assists with document reading and navigation.</a:t>
            </a: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900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Public Spaces</a:t>
            </a:r>
            <a:r>
              <a:rPr lang="en-US" sz="19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: Enables access to signage and printed information without assistance.</a:t>
            </a:r>
          </a:p>
          <a:p>
            <a:pPr marL="0" marR="0" indent="0">
              <a:buNone/>
            </a:pPr>
            <a:endParaRPr lang="en-US" sz="39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82C35-603A-EA39-1E46-722A2A52C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E4E19-2662-430D-A850-EDB4C947B0ED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77332-4FDA-FAA1-0879-154FFE097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77587-6A4E-CFBF-8089-2DA9F31A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7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13A30-CCD8-E2F0-81D2-07F3DE0B5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E7355-15BF-C3B8-DB12-7A95ED4A5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Literature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92B81-0DA8-A12B-D476-73B5DB25F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10144433" cy="4932361"/>
          </a:xfrm>
        </p:spPr>
        <p:txBody>
          <a:bodyPr>
            <a:normAutofit/>
          </a:bodyPr>
          <a:lstStyle/>
          <a:p>
            <a:pPr marL="0" marR="0" indent="0">
              <a:lnSpc>
                <a:spcPct val="150000"/>
              </a:lnSpc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Velmurugan et al. (2023)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: Developed a system using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Raspberry Pi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Tesseract OCR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, and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eSpeak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TTS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for text-to-speech conversion.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Reported text-to-speech accuracy of 77.2%.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Strengths: Offline functionality.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Limitations: </a:t>
            </a:r>
            <a:r>
              <a:rPr lang="en-US" sz="16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English Language only , </a:t>
            </a:r>
            <a:r>
              <a:rPr lang="en-US" sz="1600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</a:t>
            </a:r>
            <a:r>
              <a:rPr lang="en-US" sz="16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tationary design</a:t>
            </a:r>
            <a:r>
              <a:rPr lang="en-US" sz="1600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>
              <a:effectLst/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marL="0" marR="0" indent="0">
              <a:lnSpc>
                <a:spcPct val="150000"/>
              </a:lnSpc>
              <a:buNone/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Arial MT"/>
                <a:cs typeface="Arial MT"/>
              </a:rPr>
              <a:t>Konathala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et al. (2023)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 Integrated wearable technology with Tesseract OCR,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MT"/>
                <a:cs typeface="Arial MT"/>
              </a:rPr>
              <a:t>eSpeak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MT"/>
                <a:cs typeface="Arial MT"/>
              </a:rPr>
              <a:t>pyttsx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, and ultrasonic sensors for mobility and literacy.</a:t>
            </a:r>
          </a:p>
          <a:p>
            <a:pPr marR="0" lvl="0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Strengths: Combined literacy and mobility.</a:t>
            </a:r>
          </a:p>
          <a:p>
            <a:pPr marR="0" lvl="0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Limitations: Relies on physical connectivity and stationary components.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370D3-D83B-3A91-48D7-42730A77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E4E19-2662-430D-A850-EDB4C947B0ED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8F971-866F-1168-D3E9-F02DD8959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D2AB9-DE2F-15F7-CC9B-18187D58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77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AFAFE-21FB-19CE-3D27-A1B3D852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7FB01-67BB-6A37-62DF-A362CFAAB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05829-969C-C911-63C1-0D94CF525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10036278" cy="4932361"/>
          </a:xfrm>
        </p:spPr>
        <p:txBody>
          <a:bodyPr>
            <a:normAutofit/>
          </a:bodyPr>
          <a:lstStyle/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Prabhakar Manage et al. (2020)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TTS system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based on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Tesseract OCR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and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google based speech synthesizers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.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endParaRPr lang="en-US" sz="18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Strengths: Low-cost, open-source approach.</a:t>
            </a: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Limitations: Requires internet (cloud-based synthesis via </a:t>
            </a:r>
            <a:r>
              <a:rPr lang="en-US" dirty="0" err="1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gTTS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)</a:t>
            </a:r>
            <a:endParaRPr lang="en-US" sz="1800" dirty="0"/>
          </a:p>
          <a:p>
            <a:pPr marL="0" marR="0" indent="0">
              <a:buNone/>
            </a:pPr>
            <a:endParaRPr lang="en-US" sz="1800" dirty="0"/>
          </a:p>
          <a:p>
            <a:pPr marL="0" marR="0" indent="0">
              <a:buNone/>
            </a:pPr>
            <a:br>
              <a:rPr lang="en-US" sz="1800" dirty="0"/>
            </a:b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Low-Resource Language Adaptation </a:t>
            </a:r>
            <a:endParaRPr lang="en-US" sz="1800" b="1" dirty="0"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0" marR="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Debnath et al. (2020): Used Tacotron2 and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MT"/>
                <a:cs typeface="Arial MT"/>
              </a:rPr>
              <a:t>WaveGlow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for Sanskrit TTS with transfer learning.</a:t>
            </a: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Strengths: Successfully adapted for low-resource languages using transfer learning.</a:t>
            </a: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Results: Achieved an MOS score of 3.38, demonstrating effective synthesis in resource-constrained scenarios.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15BA9-0106-183B-1E63-6CABC594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E4E19-2662-430D-A850-EDB4C947B0ED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0A28F-CD8A-F3C3-AF11-7C99E5659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96978-F547-42C0-B881-3BC57D016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06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E49E1-550B-23C7-BA55-60E88DFF2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E21AB-BA4E-ECB7-616C-A03FD55E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BC1AC-4ED3-961C-FDA0-57F38AC76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9564330" cy="4932361"/>
          </a:xfrm>
        </p:spPr>
        <p:txBody>
          <a:bodyPr/>
          <a:lstStyle/>
          <a:p>
            <a:pPr marL="0" marR="0" lvl="0" indent="0">
              <a:lnSpc>
                <a:spcPct val="150000"/>
              </a:lnSpc>
              <a:buSzPts val="1000"/>
              <a:buNone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Research Gap derived from the Literature Survey: </a:t>
            </a:r>
            <a:endParaRPr lang="en-US" b="1" dirty="0"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50000"/>
              </a:lnSpc>
              <a:buSzPts val="1000"/>
              <a:buNone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a methodology to develop an assistive device with;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functioning capabilities.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Customized to use indoor and as well as outdoor settings,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 in both Sinhala and English for OCR and TTS.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neural models for speech synthesis customized for an assistive device.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D8CC3-FDD9-E636-0D7D-1790954CC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E4E19-2662-430D-A850-EDB4C947B0ED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34407-7DE0-BC92-3397-BD7422B89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FEF8C-C8E4-A669-59E8-E63B5CB5A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39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12CE-802D-ECFF-F102-D22D49705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11D2-E46F-2E1A-6E31-DE504BD8E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Methodology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AD7F-81E8-D6BC-08B1-63A19120F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0C4-44C1-456E-B2B3-2FD380AD0960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AAEDA-D3C1-DAE4-9C75-51D1BC227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19624-4D1A-0E82-5460-89D409C6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10</a:t>
            </a:fld>
            <a:endParaRPr lang="en-US"/>
          </a:p>
        </p:txBody>
      </p:sp>
      <p:pic>
        <p:nvPicPr>
          <p:cNvPr id="7" name="Content Placeholder 6" descr="A diagram of different colored rectangles&#10;&#10;Description automatically generated">
            <a:extLst>
              <a:ext uri="{FF2B5EF4-FFF2-40B4-BE49-F238E27FC236}">
                <a16:creationId xmlns:a16="http://schemas.microsoft.com/office/drawing/2014/main" id="{9554C389-5454-1DCE-347B-90C472EF1B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" t="27697" r="876" b="28259"/>
          <a:stretch/>
        </p:blipFill>
        <p:spPr bwMode="auto">
          <a:xfrm>
            <a:off x="463913" y="1681316"/>
            <a:ext cx="11512132" cy="213578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BF74002-B7C8-3FA0-249E-3717D61565CF}"/>
              </a:ext>
            </a:extLst>
          </p:cNvPr>
          <p:cNvSpPr txBox="1">
            <a:spLocks/>
          </p:cNvSpPr>
          <p:nvPr/>
        </p:nvSpPr>
        <p:spPr>
          <a:xfrm>
            <a:off x="725127" y="1316189"/>
            <a:ext cx="3200401" cy="463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r>
              <a:rPr lang="en-US" sz="1600" b="1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Methodology of the research: </a:t>
            </a:r>
            <a:endParaRPr lang="en-US" sz="1600" b="1" dirty="0"/>
          </a:p>
        </p:txBody>
      </p:sp>
      <p:pic>
        <p:nvPicPr>
          <p:cNvPr id="3" name="Picture 2" descr="Text-to-Audio Conversion Flowchart">
            <a:extLst>
              <a:ext uri="{FF2B5EF4-FFF2-40B4-BE49-F238E27FC236}">
                <a16:creationId xmlns:a16="http://schemas.microsoft.com/office/drawing/2014/main" id="{4542F716-255C-C028-BA53-5E098A216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529" y="4033411"/>
            <a:ext cx="2733831" cy="222454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8312D25-5EE6-0209-127C-943CF85A8D7B}"/>
              </a:ext>
            </a:extLst>
          </p:cNvPr>
          <p:cNvSpPr/>
          <p:nvPr/>
        </p:nvSpPr>
        <p:spPr>
          <a:xfrm>
            <a:off x="6902245" y="1681316"/>
            <a:ext cx="1917290" cy="21357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BF7C7B1-4BE5-4E92-8D4A-32314C5BB65D}"/>
              </a:ext>
            </a:extLst>
          </p:cNvPr>
          <p:cNvCxnSpPr>
            <a:cxnSpLocks/>
            <a:stCxn id="9" idx="2"/>
            <a:endCxn id="3" idx="1"/>
          </p:cNvCxnSpPr>
          <p:nvPr/>
        </p:nvCxnSpPr>
        <p:spPr>
          <a:xfrm rot="16200000" flipH="1">
            <a:off x="7514918" y="4163073"/>
            <a:ext cx="1328583" cy="636639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19FB4C9-110A-86B9-61B6-0E7C94C7D598}"/>
              </a:ext>
            </a:extLst>
          </p:cNvPr>
          <p:cNvSpPr/>
          <p:nvPr/>
        </p:nvSpPr>
        <p:spPr>
          <a:xfrm>
            <a:off x="8480500" y="4033411"/>
            <a:ext cx="2836429" cy="2240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48599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7EB07-7EEC-AB4E-DF4A-61848ACC5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453D3-1078-4AE9-E106-72389D698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Methodology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0CB72-ECB1-5449-986E-0345ED0EB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0C4-44C1-456E-B2B3-2FD380AD0960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369AD-FF13-DC29-A16D-A5FB750CF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55290-76AB-E1BC-3948-5794D399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11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FF00566-5E7C-A69B-36A2-94C835107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9544292" cy="4932361"/>
          </a:xfrm>
        </p:spPr>
        <p:txBody>
          <a:bodyPr>
            <a:normAutofit/>
          </a:bodyPr>
          <a:lstStyle/>
          <a:p>
            <a:pPr marL="0" marR="0"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Two Key Components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</a:t>
            </a:r>
          </a:p>
          <a:p>
            <a:pPr marR="0" lvl="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Optical Character Recognition (OCR)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 Extracts text from images </a:t>
            </a:r>
          </a:p>
          <a:p>
            <a:pPr marR="0" lvl="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Speech Synthesis (TTS)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 Converts extracted text into natural-sounding speech using neural models.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marR="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Offline Functionality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 Focuses on eliminating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external dependencies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(smartphones, internet and cloud-based subscriptions).</a:t>
            </a:r>
          </a:p>
          <a:p>
            <a:pPr marL="342900" marR="0" lvl="0" indent="-342900">
              <a:lnSpc>
                <a:spcPct val="2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Multilingual Support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 Incorporates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Sinhala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and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English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for accessibility.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b="1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011257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AAFF3-5147-CE59-A170-D2A2AD05D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40887-916C-E0AE-721F-3B130A86E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Methodology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BC1CA-9ADE-66EA-D9BF-D4080DDAB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0C4-44C1-456E-B2B3-2FD380AD0960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129E9-1870-B1AE-3692-71D3BC5D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B1D36-BBE7-68B6-EDD4-16E87933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12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C3EBF7-34B5-6BCE-0927-A2523EC26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Training and Hardware Platform</a:t>
            </a:r>
            <a:endParaRPr lang="en-US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 lvl="0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Training Platform: Google </a:t>
            </a:r>
            <a:r>
              <a:rPr lang="en-US" dirty="0" err="1">
                <a:effectLst/>
                <a:latin typeface="Times New Roman" panose="02020603050405020304" pitchFamily="18" charset="0"/>
                <a:ea typeface="Arial MT"/>
                <a:cs typeface="Arial MT"/>
              </a:rPr>
              <a:t>Colab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Pro  (GPUs to handle computationally intensive tasks.)</a:t>
            </a:r>
          </a:p>
          <a:p>
            <a:pPr marL="0" marR="0" lvl="0" indent="0">
              <a:lnSpc>
                <a:spcPct val="150000"/>
              </a:lnSpc>
              <a:buSzPts val="1000"/>
              <a:buNone/>
              <a:tabLst>
                <a:tab pos="457200" algn="l"/>
              </a:tabLst>
            </a:pPr>
            <a:endParaRPr lang="en-US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 lvl="0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Hardware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 Optimized for Raspberry Pi compatibility.</a:t>
            </a: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Ensures portability and offline functionality.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261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0F088-65E8-281E-856D-2531EC95B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A8B3B-ADA4-159B-7CAB-77F391B72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Methodology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76E8E-5B78-80BC-F643-1E2BB4760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0C4-44C1-456E-B2B3-2FD380AD0960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16478-A326-3B2B-F2B2-B8BFDBA2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BBFEB-AE32-17AE-A8E7-1C2F18466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13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A178AB-37C6-595B-7095-04CBDB958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50000"/>
              </a:lnSpc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OCR Methodology - Tesseract OCR</a:t>
            </a:r>
            <a:endParaRPr lang="en-US" dirty="0"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0" marR="0" indent="0">
              <a:lnSpc>
                <a:spcPct val="100000"/>
              </a:lnSpc>
              <a:buNone/>
            </a:pPr>
            <a:endParaRPr lang="en-US" b="1" dirty="0"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0" marR="0" lvl="0" indent="0">
              <a:lnSpc>
                <a:spcPct val="150000"/>
              </a:lnSpc>
              <a:buSzPts val="1000"/>
              <a:buNone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Why Tesseract?</a:t>
            </a:r>
            <a:endParaRPr lang="en-US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Supports Sinhala Language.</a:t>
            </a: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Arial MT"/>
                <a:cs typeface="Arial MT"/>
              </a:rPr>
              <a:t>O</a:t>
            </a:r>
            <a:r>
              <a:rPr lang="en-US" sz="20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pen-source</a:t>
            </a:r>
            <a:endParaRPr lang="en-US" sz="2000" dirty="0">
              <a:effectLst/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Offline functionality, unlike cloud-based solutions.</a:t>
            </a: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suitable for Raspberry Pi.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23318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DD180-F84C-FC58-15EF-DC327593C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0B77-5FD4-DC29-4FC2-09050A4B7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Methodology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5BE4F-97AC-037F-B585-6F7B0E86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0C4-44C1-456E-B2B3-2FD380AD0960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54F9D-6F52-47A5-73FC-975562D77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6F844-B89B-6469-0FC8-CD781937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14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27BACC3-DD33-BC52-3F43-93C47B7E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9583995" cy="493236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 for Tesseract- OCR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Grayscale Conversion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image to grayscale to reduce complexity and eliminate color information that is irrelevant for text extraction.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Resizes images to improve accuracy in recognizing smaller or stylized text.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66532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DF52D-318B-358F-F74E-BBAFB6713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5569-52B7-4B65-DDC5-4B437C60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Methodology - TTS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75BAC-D2AA-05C3-930D-F5035DF6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0C4-44C1-456E-B2B3-2FD380AD0960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12C2E-6794-FFC9-3B41-87E088C0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1429E-DC63-C3F3-5223-C303C955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15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39A673-9370-DF4D-2688-262CEDE8C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7165259" cy="5224461"/>
          </a:xfrm>
        </p:spPr>
        <p:txBody>
          <a:bodyPr>
            <a:noAutofit/>
          </a:bodyPr>
          <a:lstStyle/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Tacotron2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:</a:t>
            </a:r>
          </a:p>
          <a:p>
            <a:pPr marR="0" lvl="1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Converts text in to </a:t>
            </a:r>
            <a:r>
              <a:rPr lang="en-US" dirty="0" err="1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mel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spectrograms </a:t>
            </a:r>
            <a:endParaRPr lang="en-US" dirty="0"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lvl="2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800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M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el-spectrograms </a:t>
            </a:r>
            <a:r>
              <a:rPr lang="en-US" sz="1800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- </a:t>
            </a:r>
            <a:r>
              <a:rPr lang="en-US" sz="1800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a frequency-domain filter bank to audio signals that are windowed in time)</a:t>
            </a:r>
          </a:p>
          <a:p>
            <a:pPr lvl="2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800" dirty="0">
                <a:solidFill>
                  <a:srgbClr val="040C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– text</a:t>
            </a:r>
          </a:p>
          <a:p>
            <a:pPr lvl="2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800" dirty="0">
                <a:solidFill>
                  <a:srgbClr val="040C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800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utput – </a:t>
            </a:r>
            <a:r>
              <a:rPr lang="en-US" sz="1800" b="0" i="0" dirty="0" err="1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mel</a:t>
            </a:r>
            <a:r>
              <a:rPr lang="en-US" sz="1800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-spectrogram</a:t>
            </a:r>
          </a:p>
          <a:p>
            <a:pPr lvl="2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sz="1800" dirty="0">
              <a:solidFill>
                <a:srgbClr val="040C28"/>
              </a:solidFill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marL="914400" lvl="2" indent="0">
              <a:buSzPts val="1000"/>
              <a:buNone/>
              <a:tabLst>
                <a:tab pos="914400" algn="l"/>
              </a:tabLst>
            </a:pPr>
            <a:endParaRPr lang="en-US" sz="1800" dirty="0">
              <a:effectLst/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WaveGlow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:</a:t>
            </a:r>
          </a:p>
          <a:p>
            <a:pPr lvl="1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Flow-based neural vocoder </a:t>
            </a:r>
            <a:endParaRPr lang="en-US" dirty="0">
              <a:effectLst/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marR="0" lvl="1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Converts the </a:t>
            </a:r>
            <a:r>
              <a:rPr lang="en-US" dirty="0" err="1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mel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spectrograms generated </a:t>
            </a:r>
            <a:r>
              <a:rPr lang="en-US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by Tacotron2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into audio (speech)</a:t>
            </a:r>
          </a:p>
          <a:p>
            <a:pPr marR="0" lvl="1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Input – Mel-spectrograms</a:t>
            </a:r>
          </a:p>
          <a:p>
            <a:pPr marR="0" lvl="1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Output – “.wav” Audio file</a:t>
            </a:r>
            <a:endParaRPr lang="en-US" b="1" dirty="0"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</p:txBody>
      </p:sp>
      <p:pic>
        <p:nvPicPr>
          <p:cNvPr id="3" name="Picture 6" descr="A close-up of a graph&#10;&#10;Description automatically generated">
            <a:extLst>
              <a:ext uri="{FF2B5EF4-FFF2-40B4-BE49-F238E27FC236}">
                <a16:creationId xmlns:a16="http://schemas.microsoft.com/office/drawing/2014/main" id="{EC11F21C-095F-C47B-8902-304B69FC8A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5"/>
          <a:stretch/>
        </p:blipFill>
        <p:spPr bwMode="auto">
          <a:xfrm>
            <a:off x="8076603" y="1357678"/>
            <a:ext cx="3437570" cy="20713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Text-to-Audio Conversion Flowchart">
            <a:extLst>
              <a:ext uri="{FF2B5EF4-FFF2-40B4-BE49-F238E27FC236}">
                <a16:creationId xmlns:a16="http://schemas.microsoft.com/office/drawing/2014/main" id="{D6C77B27-A77D-54FD-4C5A-B82659E53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493" y="3582670"/>
            <a:ext cx="3408680" cy="2773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6796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3F3E5-2FE5-F8DC-E975-170EDCCD7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C881F-59D4-6BE1-4EED-9DF285FFF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Methodology  - TTS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DBF13-3656-24CF-D6BA-EC7C066CD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0C4-44C1-456E-B2B3-2FD380AD0960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AEBFB-D640-FC43-8F3C-17AE8A07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E713A-25D8-E829-9D6B-29F065E26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16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5ABB01-CDF2-9AF5-F6CF-D65017457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10685207" cy="4932361"/>
          </a:xfrm>
        </p:spPr>
        <p:txBody>
          <a:bodyPr>
            <a:normAutofit/>
          </a:bodyPr>
          <a:lstStyle/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English Speech Synthesis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</a:t>
            </a: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Pre-trained </a:t>
            </a:r>
            <a:r>
              <a:rPr lang="en-US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Tacotron2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and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WaveGlow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models for high-quality speech synthesis.</a:t>
            </a: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Used default limit for max decoder steps in tacotron2 </a:t>
            </a: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Handling long texts by diving the input into sections </a:t>
            </a:r>
          </a:p>
          <a:p>
            <a:pPr marR="0"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Dataset used – LJ speech dataset </a:t>
            </a:r>
            <a:r>
              <a:rPr lang="en-US" dirty="0">
                <a:effectLst/>
                <a:latin typeface="Times New Roman" panose="02020603050405020304" pitchFamily="18" charset="0"/>
                <a:ea typeface="Cordia New" panose="020B0304020202020204" pitchFamily="34" charset="-34"/>
                <a:cs typeface="Times New Roman" panose="02020603050405020304" pitchFamily="18" charset="0"/>
              </a:rPr>
              <a:t>(Ito, 2017)</a:t>
            </a:r>
          </a:p>
          <a:p>
            <a:pPr marL="1828800" lvl="4" indent="0">
              <a:lnSpc>
                <a:spcPct val="150000"/>
              </a:lnSpc>
              <a:buSzPts val="1000"/>
              <a:buNone/>
              <a:tabLst>
                <a:tab pos="914400" algn="l"/>
              </a:tabLst>
            </a:pPr>
            <a:r>
              <a:rPr lang="en-US" sz="1800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hours of high-quality audio recordings from a single English speaker reading passages from public domain texts </a:t>
            </a:r>
            <a:endParaRPr lang="en-US" sz="1800" b="1" dirty="0">
              <a:effectLst/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595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69DCC-3695-2D68-0454-9E99221E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26AA-2543-3668-137A-86CF057FF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Methodology  - TTS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39911-228F-B036-0B66-FDFA9531D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0C4-44C1-456E-B2B3-2FD380AD0960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7F249-7EAB-59D7-FB9A-8EA104F02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242C4-F81F-9782-7D06-0DF699F7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17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932E58-6B39-4776-3D12-D40E14D78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10685207" cy="4932361"/>
          </a:xfrm>
        </p:spPr>
        <p:txBody>
          <a:bodyPr/>
          <a:lstStyle/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Sinhala Speech Synthesis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</a:t>
            </a:r>
          </a:p>
          <a:p>
            <a:pPr marL="0" indent="0">
              <a:buSzPts val="1000"/>
              <a:buNone/>
              <a:tabLst>
                <a:tab pos="457200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: Google’s Open Speech and Language Resources </a:t>
            </a:r>
            <a:r>
              <a:rPr lang="en-US" sz="1800" dirty="0">
                <a:effectLst/>
                <a:latin typeface="Times New Roman" panose="02020603050405020304" pitchFamily="18" charset="0"/>
                <a:ea typeface="Cordia New" panose="020B0304020202020204" pitchFamily="34" charset="-34"/>
                <a:cs typeface="Times New Roman" panose="02020603050405020304" pitchFamily="18" charset="0"/>
              </a:rPr>
              <a:t>(OSLR, , 2017)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20 hours of audio data recorded by native Sinhala speakers.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endParaRPr lang="en-US" sz="18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Methodology: 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endParaRPr lang="en-US" sz="18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latin typeface="Times New Roman" panose="02020603050405020304" pitchFamily="18" charset="0"/>
                <a:ea typeface="Arial MT"/>
                <a:cs typeface="Arial MT"/>
              </a:rPr>
              <a:t>Approach 1 – Training the model from scratch.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Approach 2 – Transfer Learning.</a:t>
            </a:r>
          </a:p>
          <a:p>
            <a:pPr marR="0" lvl="1"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Transfer learning applied to fine-tune pre-trained models with the Sinhala dataset.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2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3CD7-5F15-0198-70BD-F4049B2D0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270AA-C30A-95AF-EFF6-6C28EB539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Methodology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C3F21-0851-F6E6-8F95-277C0269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0C4-44C1-456E-B2B3-2FD380AD0960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F16C7-4771-8378-F330-F78D562D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D1A91-A9C2-CD87-18B7-FF0FD26EB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18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6A21F1F-719D-1F8B-C7E5-B87E4FAB3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10095272" cy="4932361"/>
          </a:xfrm>
        </p:spPr>
        <p:txBody>
          <a:bodyPr>
            <a:normAutofit/>
          </a:bodyPr>
          <a:lstStyle/>
          <a:p>
            <a:pPr marL="0" marR="0"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Challenges in Sinhala TTS</a:t>
            </a:r>
            <a:endParaRPr lang="en-US" sz="18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Initial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Sinhala TTS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models produced poor audio quality.</a:t>
            </a:r>
          </a:p>
          <a:p>
            <a:pPr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Arial MT"/>
                <a:cs typeface="Arial MT"/>
              </a:rPr>
              <a:t>Compared the generated Mel Spectrograms with ground truth.</a:t>
            </a:r>
          </a:p>
          <a:p>
            <a:pPr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Ground truth – visible frequency bands were present.</a:t>
            </a:r>
          </a:p>
          <a:p>
            <a:pPr lvl="1">
              <a:lnSpc>
                <a:spcPct val="150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Arial MT"/>
                <a:cs typeface="Arial MT"/>
              </a:rPr>
              <a:t>Generated Mel spectrogram – representation of the noise </a:t>
            </a: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6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b="1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b="1" dirty="0"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b="1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b="1" dirty="0"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pic>
        <p:nvPicPr>
          <p:cNvPr id="3" name="Picture 2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34667663-6735-8301-C747-7A1EBF57D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459" y="3596148"/>
            <a:ext cx="7222678" cy="24059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2071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D95A4-D6B2-B02E-74D8-429AC6ACE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4CDC5-D39D-9D96-71F1-CAA576683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Methodology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9D6D2-4961-5634-F8D2-DAE0262C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0C4-44C1-456E-B2B3-2FD380AD0960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80664-DED8-4C88-6542-B70204DF9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A5BB4-E48E-0DD8-5B04-32F51077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19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D09BEF-3E9D-553E-652C-CE6B072FA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>
              <a:lnSpc>
                <a:spcPct val="150000"/>
              </a:lnSpc>
              <a:buSzPts val="1000"/>
              <a:buNone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Transfer Learning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 Shifted to fine-tuning pre-trained Tacotron2 models for better results. (Debnath et. al, 2020 )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pre trained models on English dataset.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additional training  for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WaveGlow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4D064B-3385-9B58-B4A8-9B29F99FE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089" y="3734593"/>
            <a:ext cx="4134427" cy="1162212"/>
          </a:xfrm>
          <a:prstGeom prst="rect">
            <a:avLst/>
          </a:prstGeom>
        </p:spPr>
      </p:pic>
      <p:pic>
        <p:nvPicPr>
          <p:cNvPr id="11" name="Picture 10" descr="A graph with a line&#10;&#10;Description automatically generated">
            <a:extLst>
              <a:ext uri="{FF2B5EF4-FFF2-40B4-BE49-F238E27FC236}">
                <a16:creationId xmlns:a16="http://schemas.microsoft.com/office/drawing/2014/main" id="{D211B28C-2F3B-0496-CBC9-294FF750A2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596" y="2284449"/>
            <a:ext cx="4695856" cy="30344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B334EB0-15DF-55EC-E1A9-F8DDD5D6D758}"/>
              </a:ext>
            </a:extLst>
          </p:cNvPr>
          <p:cNvSpPr txBox="1"/>
          <p:nvPr/>
        </p:nvSpPr>
        <p:spPr>
          <a:xfrm>
            <a:off x="1278194" y="4949611"/>
            <a:ext cx="3266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(Debnath et. al, 2020 )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39F4A-1BD8-F083-BD03-242EC192A973}"/>
              </a:ext>
            </a:extLst>
          </p:cNvPr>
          <p:cNvSpPr txBox="1"/>
          <p:nvPr/>
        </p:nvSpPr>
        <p:spPr>
          <a:xfrm>
            <a:off x="7253749" y="5404921"/>
            <a:ext cx="3397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Loss curve for 150 epochs</a:t>
            </a:r>
          </a:p>
        </p:txBody>
      </p:sp>
    </p:spTree>
    <p:extLst>
      <p:ext uri="{BB962C8B-B14F-4D97-AF65-F5344CB8AC3E}">
        <p14:creationId xmlns:p14="http://schemas.microsoft.com/office/powerpoint/2010/main" val="2583043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E69DC-257C-EA68-4515-D9EA50FDF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2718-6BC4-9B9B-659B-6DC6ACB4C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Results and 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CA38F-C4B1-0F02-5604-6A35D9C8E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3" y="1268413"/>
            <a:ext cx="10773696" cy="493236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Objective: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suitability of the selected text recognition tool (Tesseract OCR) for an assistive device.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BEFDB-BB86-E924-12F7-BEC08AC9B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155A2-663D-4845-875C-A76156A5A155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FBD08-8E93-E346-28EC-52664888A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002A5-0C2E-2324-A855-E59447B1E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4D8DF6B-DA7B-AE18-CC44-AE08FB4CD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033896"/>
              </p:ext>
            </p:extLst>
          </p:nvPr>
        </p:nvGraphicFramePr>
        <p:xfrm>
          <a:off x="5083276" y="2017488"/>
          <a:ext cx="6528621" cy="383915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914313">
                  <a:extLst>
                    <a:ext uri="{9D8B030D-6E8A-4147-A177-3AD203B41FA5}">
                      <a16:colId xmlns:a16="http://schemas.microsoft.com/office/drawing/2014/main" val="2235784075"/>
                    </a:ext>
                  </a:extLst>
                </a:gridCol>
                <a:gridCol w="1617439">
                  <a:extLst>
                    <a:ext uri="{9D8B030D-6E8A-4147-A177-3AD203B41FA5}">
                      <a16:colId xmlns:a16="http://schemas.microsoft.com/office/drawing/2014/main" val="1756222363"/>
                    </a:ext>
                  </a:extLst>
                </a:gridCol>
                <a:gridCol w="1361516">
                  <a:extLst>
                    <a:ext uri="{9D8B030D-6E8A-4147-A177-3AD203B41FA5}">
                      <a16:colId xmlns:a16="http://schemas.microsoft.com/office/drawing/2014/main" val="1756032225"/>
                    </a:ext>
                  </a:extLst>
                </a:gridCol>
                <a:gridCol w="1635353">
                  <a:extLst>
                    <a:ext uri="{9D8B030D-6E8A-4147-A177-3AD203B41FA5}">
                      <a16:colId xmlns:a16="http://schemas.microsoft.com/office/drawing/2014/main" val="2283438609"/>
                    </a:ext>
                  </a:extLst>
                </a:gridCol>
              </a:tblGrid>
              <a:tr h="743062">
                <a:tc rowSpan="2">
                  <a:txBody>
                    <a:bodyPr/>
                    <a:lstStyle/>
                    <a:p>
                      <a:pPr marL="0" marR="0" indent="91440" algn="just"/>
                      <a:r>
                        <a:rPr lang="en-US" sz="2400" b="1" dirty="0">
                          <a:effectLst/>
                        </a:rPr>
                        <a:t>Language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91440" algn="just"/>
                      <a:r>
                        <a:rPr lang="en-US" sz="2000" b="1" dirty="0">
                          <a:effectLst/>
                        </a:rPr>
                        <a:t>Summary of Tesseract- OCR Results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775222"/>
                  </a:ext>
                </a:extLst>
              </a:tr>
              <a:tr h="11145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91440" algn="just"/>
                      <a:r>
                        <a:rPr lang="en-US" sz="2000" b="1" dirty="0">
                          <a:effectLst/>
                        </a:rPr>
                        <a:t>Total Words</a:t>
                      </a:r>
                      <a:endParaRPr lang="en-US" sz="2000" b="1" i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91440" algn="just"/>
                      <a:r>
                        <a:rPr lang="en-US" sz="2000" b="1" dirty="0">
                          <a:effectLst/>
                        </a:rPr>
                        <a:t>Errors</a:t>
                      </a:r>
                      <a:endParaRPr lang="en-US" sz="2000" b="1" i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91440" algn="just"/>
                      <a:r>
                        <a:rPr lang="en-US" sz="2000" b="1" dirty="0">
                          <a:effectLst/>
                        </a:rPr>
                        <a:t>Accuracy (%)</a:t>
                      </a:r>
                      <a:endParaRPr lang="en-US" sz="2000" b="1" i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503829"/>
                  </a:ext>
                </a:extLst>
              </a:tr>
              <a:tr h="990751">
                <a:tc>
                  <a:txBody>
                    <a:bodyPr/>
                    <a:lstStyle/>
                    <a:p>
                      <a:pPr marL="0" marR="0" algn="just"/>
                      <a:r>
                        <a:rPr lang="en-US" sz="2400" b="1" dirty="0">
                          <a:effectLst/>
                        </a:rPr>
                        <a:t>English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/>
                      <a:r>
                        <a:rPr lang="en-US" sz="2400" dirty="0">
                          <a:effectLst/>
                        </a:rPr>
                        <a:t>621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91440" algn="just"/>
                      <a:r>
                        <a:rPr lang="en-US" sz="2400" dirty="0">
                          <a:effectLst/>
                        </a:rPr>
                        <a:t>30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91440" algn="just"/>
                      <a:r>
                        <a:rPr lang="en-US" sz="2400">
                          <a:effectLst/>
                        </a:rPr>
                        <a:t>95%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830719"/>
                  </a:ext>
                </a:extLst>
              </a:tr>
              <a:tr h="990751">
                <a:tc>
                  <a:txBody>
                    <a:bodyPr/>
                    <a:lstStyle/>
                    <a:p>
                      <a:pPr marL="0" marR="0" algn="just"/>
                      <a:r>
                        <a:rPr lang="en-US" sz="2400" b="1" dirty="0">
                          <a:effectLst/>
                        </a:rPr>
                        <a:t>Sinhala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/>
                      <a:r>
                        <a:rPr lang="en-US" sz="2400" dirty="0">
                          <a:effectLst/>
                        </a:rPr>
                        <a:t>528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91440" algn="just"/>
                      <a:r>
                        <a:rPr lang="en-US" sz="2400">
                          <a:effectLst/>
                        </a:rPr>
                        <a:t>112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91440" algn="just"/>
                      <a:r>
                        <a:rPr lang="en-US" sz="2400" dirty="0">
                          <a:effectLst/>
                        </a:rPr>
                        <a:t>78.8%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841820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B4C1ED-96C9-7FA7-CE86-67195D672E17}"/>
              </a:ext>
            </a:extLst>
          </p:cNvPr>
          <p:cNvSpPr txBox="1">
            <a:spLocks/>
          </p:cNvSpPr>
          <p:nvPr/>
        </p:nvSpPr>
        <p:spPr>
          <a:xfrm>
            <a:off x="838199" y="1789471"/>
            <a:ext cx="4114800" cy="4411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based on test images under different lighting conditions.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174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1F42F-E8C2-C51C-4AF5-B1895BE7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E405-88ED-9722-59A7-0B723E7B6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Results and 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36C82-33B5-1584-E8D0-A0FEB2919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10754033" cy="493236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Objective: Exploring methods to implement image to text conversion and speech synthesis, minimizing the dependency on external technologies.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Comparison of TTS Models: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90CFE-A621-94CC-6580-C37F19613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155A2-663D-4845-875C-A76156A5A155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BF43-778B-AA8A-CFD9-1DF76D2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E9BF5-B8C3-7468-938A-CA6E04D08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8BE5102-0CF5-59A3-14D5-88219169C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307010"/>
              </p:ext>
            </p:extLst>
          </p:nvPr>
        </p:nvGraphicFramePr>
        <p:xfrm>
          <a:off x="4641616" y="2253468"/>
          <a:ext cx="6950616" cy="3947306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737654">
                  <a:extLst>
                    <a:ext uri="{9D8B030D-6E8A-4147-A177-3AD203B41FA5}">
                      <a16:colId xmlns:a16="http://schemas.microsoft.com/office/drawing/2014/main" val="2811204389"/>
                    </a:ext>
                  </a:extLst>
                </a:gridCol>
                <a:gridCol w="1737654">
                  <a:extLst>
                    <a:ext uri="{9D8B030D-6E8A-4147-A177-3AD203B41FA5}">
                      <a16:colId xmlns:a16="http://schemas.microsoft.com/office/drawing/2014/main" val="440567467"/>
                    </a:ext>
                  </a:extLst>
                </a:gridCol>
                <a:gridCol w="1737654">
                  <a:extLst>
                    <a:ext uri="{9D8B030D-6E8A-4147-A177-3AD203B41FA5}">
                      <a16:colId xmlns:a16="http://schemas.microsoft.com/office/drawing/2014/main" val="2832642206"/>
                    </a:ext>
                  </a:extLst>
                </a:gridCol>
                <a:gridCol w="1737654">
                  <a:extLst>
                    <a:ext uri="{9D8B030D-6E8A-4147-A177-3AD203B41FA5}">
                      <a16:colId xmlns:a16="http://schemas.microsoft.com/office/drawing/2014/main" val="1161983641"/>
                    </a:ext>
                  </a:extLst>
                </a:gridCol>
              </a:tblGrid>
              <a:tr h="62073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effectLst/>
                        </a:rPr>
                        <a:t>Feature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effectLst/>
                        </a:rPr>
                        <a:t>Tacotron2 + </a:t>
                      </a:r>
                      <a:r>
                        <a:rPr lang="en-US" sz="1200" b="1" dirty="0" err="1">
                          <a:effectLst/>
                        </a:rPr>
                        <a:t>WaveGlow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 b="1">
                          <a:effectLst/>
                        </a:rPr>
                        <a:t>eSpeak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 b="1" dirty="0" err="1">
                          <a:effectLst/>
                        </a:rPr>
                        <a:t>gTTS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240187"/>
                  </a:ext>
                </a:extLst>
              </a:tr>
              <a:tr h="2928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 b="1">
                          <a:effectLst/>
                        </a:rPr>
                        <a:t>Type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Neural Network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Rule-Based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Cloud-Based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8954172"/>
                  </a:ext>
                </a:extLst>
              </a:tr>
              <a:tr h="2928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 b="1">
                          <a:effectLst/>
                        </a:rPr>
                        <a:t>Naturalness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Low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Moderate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983800"/>
                  </a:ext>
                </a:extLst>
              </a:tr>
              <a:tr h="2928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 b="1">
                          <a:effectLst/>
                        </a:rPr>
                        <a:t>Intelligibility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Moderate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8688137"/>
                  </a:ext>
                </a:extLst>
              </a:tr>
              <a:tr h="2928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 b="1">
                          <a:effectLst/>
                        </a:rPr>
                        <a:t>Support for Sinhala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Yes (with training)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958986"/>
                  </a:ext>
                </a:extLst>
              </a:tr>
              <a:tr h="62073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 b="1">
                          <a:effectLst/>
                        </a:rPr>
                        <a:t>Offline Functionality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3959421"/>
                  </a:ext>
                </a:extLst>
              </a:tr>
              <a:tr h="2928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 b="1">
                          <a:effectLst/>
                        </a:rPr>
                        <a:t>Customization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Fully customizable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Minimal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None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46769"/>
                  </a:ext>
                </a:extLst>
              </a:tr>
              <a:tr h="62073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 b="1">
                          <a:effectLst/>
                        </a:rPr>
                        <a:t>Hardware Requirement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GPU Recommended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CPU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Cloud-Dependent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962389"/>
                  </a:ext>
                </a:extLst>
              </a:tr>
              <a:tr h="62073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effectLst/>
                        </a:rPr>
                        <a:t>Deployment on Raspberry Pi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Yes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200" dirty="0">
                          <a:effectLst/>
                        </a:rPr>
                        <a:t>No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2649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269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0A127-EE95-9D3D-82D5-ECBC5E96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C4E6C-ACA6-6505-7786-495A708C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Results and 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8BCD7-F2FD-74A3-142F-BCFD04519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68" y="1268413"/>
            <a:ext cx="6361471" cy="50879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of Speech Synthesis – English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on English TTS – 97.4 %  accuracy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Output Analysis: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synthesized audio had a duration of 4 minutes, consistent with the input text.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Out of the 582 words, 15 errors were identified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7 major errors (mispronunciations or incorrect emphasis).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8 minor issues (slight inconsistencies or unnecessary pauses).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4B452-B62A-0932-81B0-DDD4FC052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155A2-663D-4845-875C-A76156A5A155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D3839-15D0-5BE8-66C0-9FFDC5003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B5C5B-11A7-DDBD-F599-4E4D32DE6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22</a:t>
            </a:fld>
            <a:endParaRPr lang="en-US"/>
          </a:p>
        </p:txBody>
      </p:sp>
      <p:pic>
        <p:nvPicPr>
          <p:cNvPr id="10" name="English_Tacotron2.ipynb - Colab - Google Chrome 2024-12-08 14-52-36">
            <a:hlinkClick r:id="" action="ppaction://media"/>
            <a:extLst>
              <a:ext uri="{FF2B5EF4-FFF2-40B4-BE49-F238E27FC236}">
                <a16:creationId xmlns:a16="http://schemas.microsoft.com/office/drawing/2014/main" id="{4DC91B1E-93C0-5FC8-7708-4AAB8A9F7E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lum contrast="1000"/>
          </a:blip>
          <a:srcRect l="3174" t="13877" r="55739" b="31064"/>
          <a:stretch/>
        </p:blipFill>
        <p:spPr>
          <a:xfrm>
            <a:off x="6815791" y="1580512"/>
            <a:ext cx="5193234" cy="369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2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28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3EE06-244B-1D0C-6E80-FE8F9152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3BCFE-DA90-50D8-AAD9-996F175E6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Methodology  - TTS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57574-B02A-A6FE-AD7D-BD09DC262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0C4-44C1-456E-B2B3-2FD380AD0960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8D6FD-B7B6-3606-AF06-B7BDB84B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EB3ED-FD5A-D80F-3335-8D092C4D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23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34D091-5BAB-BA0B-2ABB-83B4A3A77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Sinhala Speech Synthesis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 - Initial Training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dirty="0"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</p:txBody>
      </p:sp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1C201164-E837-461F-9FD4-59E680020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838199" y="1677658"/>
            <a:ext cx="4388731" cy="3911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3FBEC186-AFBB-6F99-3953-AA4D8EB29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570" y="1844674"/>
            <a:ext cx="5666899" cy="3379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C9B68B-38C9-08B8-8EE9-779D169B009E}"/>
              </a:ext>
            </a:extLst>
          </p:cNvPr>
          <p:cNvSpPr txBox="1"/>
          <p:nvPr/>
        </p:nvSpPr>
        <p:spPr>
          <a:xfrm>
            <a:off x="1383703" y="5629501"/>
            <a:ext cx="3124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Tacotron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training metrics – 200 epochs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2F53DB-1619-5D11-B3D6-88C0206AFB39}"/>
              </a:ext>
            </a:extLst>
          </p:cNvPr>
          <p:cNvSpPr txBox="1"/>
          <p:nvPr/>
        </p:nvSpPr>
        <p:spPr>
          <a:xfrm>
            <a:off x="6796361" y="5529743"/>
            <a:ext cx="40879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WaveGlow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metrics – 50 epochs</a:t>
            </a:r>
          </a:p>
        </p:txBody>
      </p:sp>
    </p:spTree>
    <p:extLst>
      <p:ext uri="{BB962C8B-B14F-4D97-AF65-F5344CB8AC3E}">
        <p14:creationId xmlns:p14="http://schemas.microsoft.com/office/powerpoint/2010/main" val="1013055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A4ABD-31C9-37CA-3B61-B42D86950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C675C-696B-73B1-B65B-21153E21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Results and Discussions - Sinhala Speech Synthesis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A07F2-4B9A-0EC2-1C75-CE62DA450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10342945" cy="493236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Mel-spectrograms comparison of Transfer Learning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A89CB-685F-17E3-AAB3-95EE4BC64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155A2-663D-4845-875C-A76156A5A155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CE21E-5C8B-0393-48B5-727B507D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0FD27-5A6E-8B55-DC9C-7C2D839C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12" descr="A blue and green graph&#10;&#10;Description automatically generated">
            <a:extLst>
              <a:ext uri="{FF2B5EF4-FFF2-40B4-BE49-F238E27FC236}">
                <a16:creationId xmlns:a16="http://schemas.microsoft.com/office/drawing/2014/main" id="{B5B310AD-DDBE-E271-E8E5-A5E3CB80F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59572" y="1794337"/>
            <a:ext cx="3110647" cy="1990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A blue and green graph&#10;&#10;Description automatically generated with medium confidence">
            <a:extLst>
              <a:ext uri="{FF2B5EF4-FFF2-40B4-BE49-F238E27FC236}">
                <a16:creationId xmlns:a16="http://schemas.microsoft.com/office/drawing/2014/main" id="{4A63F1C3-5450-70F4-613F-0D322C840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20358" y="1794337"/>
            <a:ext cx="3110647" cy="197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blue and green graph&#10;&#10;Description automatically generated">
            <a:extLst>
              <a:ext uri="{FF2B5EF4-FFF2-40B4-BE49-F238E27FC236}">
                <a16:creationId xmlns:a16="http://schemas.microsoft.com/office/drawing/2014/main" id="{37A5309B-5A41-16BE-C170-4AEC4334F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92170" y="4060479"/>
            <a:ext cx="3110647" cy="196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A close-up of a graph&#10;&#10;Description automatically generated">
            <a:extLst>
              <a:ext uri="{FF2B5EF4-FFF2-40B4-BE49-F238E27FC236}">
                <a16:creationId xmlns:a16="http://schemas.microsoft.com/office/drawing/2014/main" id="{43ACF99D-D44B-EB7F-384E-629A3C8A1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20358" y="4022623"/>
            <a:ext cx="3110647" cy="196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D3486C-D31A-66BB-11FC-D696AA7D26C4}"/>
              </a:ext>
            </a:extLst>
          </p:cNvPr>
          <p:cNvSpPr txBox="1"/>
          <p:nvPr/>
        </p:nvSpPr>
        <p:spPr>
          <a:xfrm>
            <a:off x="2196891" y="3678273"/>
            <a:ext cx="2885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epoch checkpoint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3276E4-7C08-E94D-EAF3-DBBB7AF6189F}"/>
              </a:ext>
            </a:extLst>
          </p:cNvPr>
          <p:cNvSpPr txBox="1"/>
          <p:nvPr/>
        </p:nvSpPr>
        <p:spPr>
          <a:xfrm>
            <a:off x="6745237" y="3678273"/>
            <a:ext cx="2885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epoch checkpoint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12F159-7F56-DADB-45C1-0C046CECA074}"/>
              </a:ext>
            </a:extLst>
          </p:cNvPr>
          <p:cNvSpPr txBox="1"/>
          <p:nvPr/>
        </p:nvSpPr>
        <p:spPr>
          <a:xfrm>
            <a:off x="2196891" y="5978415"/>
            <a:ext cx="2885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epoch checkpoint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BB4BE0-88DD-F999-6FA0-74FE4AC26529}"/>
              </a:ext>
            </a:extLst>
          </p:cNvPr>
          <p:cNvSpPr txBox="1"/>
          <p:nvPr/>
        </p:nvSpPr>
        <p:spPr>
          <a:xfrm>
            <a:off x="6600200" y="5998710"/>
            <a:ext cx="324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 of the tested text</a:t>
            </a:r>
          </a:p>
        </p:txBody>
      </p:sp>
    </p:spTree>
    <p:extLst>
      <p:ext uri="{BB962C8B-B14F-4D97-AF65-F5344CB8AC3E}">
        <p14:creationId xmlns:p14="http://schemas.microsoft.com/office/powerpoint/2010/main" val="1110508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44904-A9A1-0465-8264-634ECD7AD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1CC8A-7FEB-B77E-7F63-44F20993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Future work and Conclusions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88F06-4734-4ABB-5FA2-39F7395B4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10164098" cy="4932361"/>
          </a:xfrm>
        </p:spPr>
        <p:txBody>
          <a:bodyPr>
            <a:normAutofit/>
          </a:bodyPr>
          <a:lstStyle/>
          <a:p>
            <a:pPr marR="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Challenges Encountered:</a:t>
            </a:r>
            <a:endParaRPr lang="en-US" sz="18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 lvl="0">
              <a:lnSpc>
                <a:spcPct val="1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6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Alignment Issues</a:t>
            </a:r>
            <a:r>
              <a:rPr lang="en-US" sz="16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 Difficulty in aligning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Arial MT"/>
                <a:cs typeface="Arial MT"/>
              </a:rPr>
              <a:t>mel</a:t>
            </a:r>
            <a:r>
              <a:rPr lang="en-US" sz="16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-spectrograms in Sinhala TTS.</a:t>
            </a:r>
          </a:p>
          <a:p>
            <a:pPr marR="0" lvl="0">
              <a:lnSpc>
                <a:spcPct val="1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600" b="1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Symptoms</a:t>
            </a:r>
            <a:r>
              <a:rPr lang="en-US" sz="16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: Smooth, low-energy spectrograms, indicating poor acoustic feature capture.</a:t>
            </a:r>
            <a:endParaRPr lang="en-US" sz="1600" b="1" dirty="0"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 lvl="0">
              <a:lnSpc>
                <a:spcPct val="1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6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Computational Constraints</a:t>
            </a:r>
            <a:r>
              <a:rPr lang="en-US" sz="16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  Limited resources (Google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Arial MT"/>
                <a:cs typeface="Arial MT"/>
              </a:rPr>
              <a:t>Colab</a:t>
            </a:r>
            <a:r>
              <a:rPr lang="en-US" sz="16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Pro, time) hindered extended training.</a:t>
            </a:r>
          </a:p>
          <a:p>
            <a:pPr marL="0" marR="0" indent="0">
              <a:lnSpc>
                <a:spcPct val="100000"/>
              </a:lnSpc>
              <a:spcAft>
                <a:spcPts val="800"/>
              </a:spcAft>
              <a:buNone/>
            </a:pPr>
            <a:endParaRPr lang="en-US" sz="1600" b="1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Achievements:</a:t>
            </a:r>
            <a:endParaRPr lang="en-US" sz="18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 lvl="0">
              <a:lnSpc>
                <a:spcPct val="1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6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Multilingua</a:t>
            </a:r>
            <a:r>
              <a:rPr lang="en-US" sz="1600" b="1" dirty="0">
                <a:latin typeface="Times New Roman" panose="02020603050405020304" pitchFamily="18" charset="0"/>
                <a:ea typeface="Arial MT"/>
                <a:cs typeface="Arial MT"/>
              </a:rPr>
              <a:t>l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OCR &amp; English TTS</a:t>
            </a:r>
            <a:r>
              <a:rPr lang="en-US" sz="16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 Successfully developed and optimized for offline use.</a:t>
            </a:r>
          </a:p>
          <a:p>
            <a:pPr marR="0" lvl="0">
              <a:lnSpc>
                <a:spcPct val="1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6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Sinhala TTS</a:t>
            </a:r>
            <a:r>
              <a:rPr lang="en-US" sz="16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 Achieved foundational progress with transfer learning.</a:t>
            </a:r>
          </a:p>
          <a:p>
            <a:pPr marR="0" lvl="0">
              <a:lnSpc>
                <a:spcPct val="1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6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Suitability for Hardware</a:t>
            </a:r>
            <a:r>
              <a:rPr lang="en-US" sz="160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: Models are compatible with Raspberry Pi for future deployment.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C87D1-D65F-0491-46EB-640ABC291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BAB-46E7-47A7-895E-32D788C7070B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017D2-06B9-682B-6962-0CAF7C106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8FDEB-208B-4149-9ACB-866882CD1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85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860B9-CDA4-E1E5-4AF6-3F730B5FF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ACB3-F79A-0F4E-2BA5-168B90489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Future work and Conclusions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367CB-A088-844A-6A22-CA0518E56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9544666" cy="4932361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Future Work and Recommendations: 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Extended Training and Optimization.</a:t>
            </a:r>
            <a:endParaRPr lang="en-US" sz="18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 lvl="1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Extend training beyond 150 epochs, using a smaller batch size for improved audio quality.</a:t>
            </a:r>
          </a:p>
          <a:p>
            <a:pPr marR="0" lvl="1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Comparison: Studies like Debnath et al. (2020) achieved improvements with 430 epochs and a batch size of 8.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Dataset Expansion.</a:t>
            </a:r>
            <a:endParaRPr lang="en-US" sz="18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R="0" lvl="1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Focus on custom TTS and OCR datasets for improved model adaptability.</a:t>
            </a:r>
            <a:endParaRPr lang="en-US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Hardware Implementation.</a:t>
            </a:r>
            <a:endParaRPr lang="en-US" sz="180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457200" marR="0" lvl="1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08C68-A3C4-AEE3-7536-BD24F7AA1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BAB-46E7-47A7-895E-32D788C7070B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3C5D8-A5EE-EC43-A47C-A6836DEC2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88654-7D68-A40E-B101-31772C96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44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A82C3-0A20-DC59-847E-48745DED6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3DC78-687A-A803-C7B8-A2564E2BA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1B82E-D351-92E0-AD49-DCCCDD9B6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8413"/>
            <a:ext cx="10599421" cy="4932361"/>
          </a:xfrm>
        </p:spPr>
        <p:txBody>
          <a:bodyPr>
            <a:normAutofit/>
          </a:bodyPr>
          <a:lstStyle/>
          <a:p>
            <a:pPr marR="0" algn="just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 (2003) 'Up to 45 million blind people globally - and growing',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https://www.who.int/news/item/09-10-2003-up-to-45-million-blind-people-globally---and-growing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(Accessed: 20 April 2024).</a:t>
            </a:r>
          </a:p>
          <a:p>
            <a:pPr algn="just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Velmurugan, S.N., Sekar, S.,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Jebaraj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B.S., Vishnu Shakthi, D.,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Azarudeen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and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Shanmuga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R.B. (2023) 'A Next-Gen Automated Reading Companion for the Visually Impaired',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2023 International Conference on Research Methodologies in Knowledge Management, Artificial Intelligence and Telecommunication Engineering (RMKMATE)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Chennai, India, pp. 1–7.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10.1109/RMKMATE59243.2023.10369761 (Accessed: 31 March 2024).</a:t>
            </a:r>
          </a:p>
          <a:p>
            <a:pPr algn="just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Manage, P.,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Ambe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V., Gokhale, P., Patil, V., Kulkarni, R.M. and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Kalburgimath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P.R. (2020) 'An Intelligent Text Reader based on Python',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2020 3rd International Conference on Intelligent Sustainable Systems (ICISS)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Thoothukudi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India, pp. 1–5.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10.1109/ICISS49785.2020.9315996 (Accessed: 31 March 2024).</a:t>
            </a:r>
          </a:p>
          <a:p>
            <a:pPr algn="just">
              <a:buFont typeface="+mj-lt"/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Amarasinghe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C.K., Pinto, R.D.S.P. and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Sudusinghe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K.N. (2022) 'Guardian - Smart Assistant Tool for Visually Impaired People',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2022 4th International Conference on Advancements in Computing (ICAC)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Colombo, Sri Lanka, pp. 429–434.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10.1109/ICAC57685.2022.10025262.</a:t>
            </a:r>
          </a:p>
          <a:p>
            <a:pPr algn="just">
              <a:buFont typeface="+mj-lt"/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Konathala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S.K.,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Kondepudi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Vommi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Genjii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Dogga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and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Viyyapu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(2023) 'Assistive glasses for blind people',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2023 7th International Conference on Computing, Communication, Control and Automation (ICCUBEA)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Pune, India, pp. 1–6.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10.1109/ICCUBEA58933.2023.10392252 (Accessed: 21 November 2024).</a:t>
            </a:r>
          </a:p>
          <a:p>
            <a:pPr algn="just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Shen, J. et al. (2018) 'Natural TTS synthesis by conditioning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WaveNet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spectrogram predictions',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IEEE International Conference on Acoustics, Speech, and Signal Processing (ICASSP)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Debnath, A., Patil, S.S.,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Nadiger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and Ganesan, R.A. (2020) 'Low-resource end-to-end Sanskrit TTS using Tacotron2,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WaveGlow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transfer learning',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2020 IEEE 17th India Council International Conference (INDICON)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New Delhi, India, pp. 1–5.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10.1109/INDICON49873.2020.9342071 (Accessed: 21 November 2024).</a:t>
            </a:r>
          </a:p>
          <a:p>
            <a:pPr marR="0" algn="just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Google, Inc. (2015-2016) 'Sinhala TTS: Sinhalese multi-speaker TTS corpora'. Available at: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https://openslr.org/30/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(Accessed: 22 August 2024).</a:t>
            </a:r>
          </a:p>
          <a:p>
            <a:pPr marR="0" algn="just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Ito, K. (2017) '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LJSpeech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public domain speech dataset'. Available at: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https://keithito.com/LJ-Speech-Dataset/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(Accessed: 23 July 2024).</a:t>
            </a:r>
          </a:p>
          <a:p>
            <a:pPr marR="0" algn="just"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Stevens, A., Thomas, S. &amp; Liew, S., 2018. The prevalence of visual impairment in Australia. 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PMID: 5820628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https://pmc.ncbi.nlm.nih.gov/articles/PMC5820628/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[Accessed 9 December 2024].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B7E43-CE7F-8FD0-172D-81BB7BADE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8E1F-4001-45CB-A43A-9C4655EC56E7}" type="datetime1">
              <a:rPr lang="en-US" smtClean="0"/>
              <a:t>12/9/2024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6D5B3-3049-CD12-2BA4-076CAA7E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A3FF1-6804-6AE6-ECB1-C24DF19E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06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98C21-BB74-8267-1797-4457DA46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2C62-4967-C912-CEAE-7E7FA91D9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2374265"/>
            <a:ext cx="5379720" cy="1518920"/>
          </a:xfrm>
        </p:spPr>
        <p:txBody>
          <a:bodyPr>
            <a:normAutofit/>
          </a:bodyPr>
          <a:lstStyle/>
          <a:p>
            <a:r>
              <a:rPr lang="en-US" sz="6000" dirty="0"/>
              <a:t>Thank you!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93C80-D76B-E839-E24E-B6F2DDBC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8E1F-4001-45CB-A43A-9C4655EC56E7}" type="datetime1">
              <a:rPr lang="en-US" smtClean="0"/>
              <a:t>12/9/2024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D526F-BF58-59A4-BF56-5E5D2E33B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year projects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4745A-7F83-C642-019A-6C8BA686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81B92-E19E-40E2-9E57-C362BEC991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51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1936</TotalTime>
  <Words>2294</Words>
  <Application>Microsoft Office PowerPoint</Application>
  <PresentationFormat>Widescreen</PresentationFormat>
  <Paragraphs>383</Paragraphs>
  <Slides>28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Courier New</vt:lpstr>
      <vt:lpstr>Symbol</vt:lpstr>
      <vt:lpstr>Times New Roman</vt:lpstr>
      <vt:lpstr>Wingdings</vt:lpstr>
      <vt:lpstr>Office Theme</vt:lpstr>
      <vt:lpstr>Offline Multilingual Assistive Device for Visually Impaired Individuals.</vt:lpstr>
      <vt:lpstr>PowerPoint Presentation</vt:lpstr>
      <vt:lpstr>1. Introduction </vt:lpstr>
      <vt:lpstr>2. Problem Statement</vt:lpstr>
      <vt:lpstr>3. Aim and Objectives</vt:lpstr>
      <vt:lpstr>3. Aim and Objectives</vt:lpstr>
      <vt:lpstr>4. Literature Review </vt:lpstr>
      <vt:lpstr>4. Literature Review</vt:lpstr>
      <vt:lpstr>4. Literature Review</vt:lpstr>
      <vt:lpstr>5. Methodology </vt:lpstr>
      <vt:lpstr>5. Methodology</vt:lpstr>
      <vt:lpstr>5. Methodology </vt:lpstr>
      <vt:lpstr>5. Methodology</vt:lpstr>
      <vt:lpstr>5. Methodology</vt:lpstr>
      <vt:lpstr>5. Methodology - TTS</vt:lpstr>
      <vt:lpstr>5. Methodology  - TTS</vt:lpstr>
      <vt:lpstr>5. Methodology  - TTS</vt:lpstr>
      <vt:lpstr>5. Methodology </vt:lpstr>
      <vt:lpstr>5. Methodology </vt:lpstr>
      <vt:lpstr>6. Results and Discussions</vt:lpstr>
      <vt:lpstr>6. Results and Discussions</vt:lpstr>
      <vt:lpstr>6. Results and Discussions</vt:lpstr>
      <vt:lpstr>5. Methodology  - TTS</vt:lpstr>
      <vt:lpstr>6. Results and Discussions - Sinhala Speech Synthesis</vt:lpstr>
      <vt:lpstr>7. Future work and Conclusions </vt:lpstr>
      <vt:lpstr>7. Future work and Conclusions </vt:lpstr>
      <vt:lpstr>8. 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Lecturer_hall</dc:creator>
  <cp:lastModifiedBy>Dissanayake D.M.C.K en21477034</cp:lastModifiedBy>
  <cp:revision>52</cp:revision>
  <dcterms:created xsi:type="dcterms:W3CDTF">2015-08-10T03:08:04Z</dcterms:created>
  <dcterms:modified xsi:type="dcterms:W3CDTF">2024-12-09T06:20:12Z</dcterms:modified>
</cp:coreProperties>
</file>